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o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64592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32004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</a:defRPr>
            </a:pPr>
            <a:r>
              <a:t>Brain-CT-Seg: AI for Brain Tumor Segmentation &amp; Risk Volumetry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Overcoming Machine, Deep Learning, and Clinical Radiologist Barriers in Non-Contrast CT</a:t>
            </a:r>
          </a:p>
        </p:txBody>
      </p:sp>
      <p:pic>
        <p:nvPicPr>
          <p:cNvPr id="4" name="Picture 3" descr="logo_n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217920"/>
            <a:ext cx="237744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2636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Machine / Acquisition</a:t>
            </a:r>
          </a:p>
        </p:txBody>
      </p:sp>
      <p:pic>
        <p:nvPicPr>
          <p:cNvPr id="7" name="Picture 6" descr="ct_scanner_machi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508760"/>
            <a:ext cx="2377440" cy="1234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788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The rotation problem (head tilt &amp; couch skew)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Multi-vendor variability (Siemens, GE, Philips)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Software / Deep Learning</a:t>
            </a:r>
          </a:p>
        </p:txBody>
      </p:sp>
      <p:pic>
        <p:nvPicPr>
          <p:cNvPr id="10" name="Picture 9" descr="ref_softw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508760"/>
            <a:ext cx="1737360" cy="1234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2788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Failure of standard CNNs on tilted/rotated scans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Severe 12–18% Dice drop under domain shift on NCCT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1887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Medical Doctor / Radiologist</a:t>
            </a:r>
          </a:p>
        </p:txBody>
      </p:sp>
      <p:pic>
        <p:nvPicPr>
          <p:cNvPr id="13" name="Picture 12" descr="slide1_doctor_visu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1508760"/>
            <a:ext cx="2194560" cy="1234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2788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Subjectivity of manual tumor boundary delineation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High inter-observer variance (radiologist Dice 65–75%)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566160"/>
            <a:ext cx="1033272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5803D"/>
                </a:solidFill>
              </a:defRPr>
            </a:pPr>
            <a:r>
              <a:t>CT-SE(2) Consensus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0507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942"/>
                </a:solidFill>
              </a:defRPr>
            </a:pPr>
            <a:r>
              <a:t>Equivariant Group Theory Backbone (C8 / N=8 discrete rotations) + 6-Model Consensus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4343400"/>
            <a:ext cx="310896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Equivariant R2Conv (C8)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Guarantees f(g·x) = g·f(x). Boundary is identical at any scan angle.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4343400"/>
            <a:ext cx="310896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6-Model Consensus Engine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Combines CT-SE(2), HarmonicNet, nnU-Net with calibrated 0.80 threshold.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343400"/>
            <a:ext cx="310896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Automated 3D Volumetry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Quantifies Tumor Volume (mL), Edema, Sphericity, and Midline Shift.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5440680"/>
            <a:ext cx="8138160" cy="5943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50" b="1">
                <a:solidFill>
                  <a:srgbClr val="FFFFFF"/>
                </a:solidFill>
              </a:defRPr>
            </a:pPr>
            <a:r>
              <a:t>84.2% Dice | 73.1% IoU SOTA Segmentation &amp; Quantitative 3D Volumetry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o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64592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32004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</a:defRPr>
            </a:pPr>
            <a:r>
              <a:t>Framework Prototype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 clinical brain tumor evaluation platform in a browser tab</a:t>
            </a:r>
          </a:p>
        </p:txBody>
      </p:sp>
      <p:pic>
        <p:nvPicPr>
          <p:cNvPr id="4" name="Picture 3" descr="logo_n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217920"/>
            <a:ext cx="237744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2636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65760"/>
            <a:ext cx="164592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Live Demo ⚡</a:t>
            </a:r>
          </a:p>
        </p:txBody>
      </p:sp>
      <p:pic>
        <p:nvPicPr>
          <p:cNvPr id="7" name="Picture 6" descr="dashboard_mpr_consensus_upda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88720"/>
            <a:ext cx="804672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61120" y="1188720"/>
            <a:ext cx="2468880" cy="123444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Zero-install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</a:defRPr>
            </a:pPr>
            <a:r>
              <a:t>No GPU required on client,</a:t>
            </a:r>
            <a:br/>
            <a:r>
              <a:t>Instant browser access via Ngrok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606040"/>
            <a:ext cx="2468880" cy="1234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Vendor-agnostic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</a:defRPr>
            </a:pPr>
            <a:r>
              <a:t>Calibrated for NCCT &amp; CTC</a:t>
            </a:r>
            <a:br/>
            <a:r>
              <a:t>across Siemens, GE, Philips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4023360"/>
            <a:ext cx="2468880" cy="12344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Privacy by design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</a:defRPr>
            </a:pPr>
            <a:r>
              <a:t>Local edge server inference,</a:t>
            </a:r>
            <a:br/>
            <a:r>
              <a:t>Automated PACS &amp; DOCX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2066543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2.5D Slice Triplet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9504" y="5532120"/>
            <a:ext cx="2066543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+ CT-SE(2) Backbone (N=8)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5532120"/>
            <a:ext cx="2066543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6-Model Consensus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5472" y="5532120"/>
            <a:ext cx="2066543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High-Clarity MPR &amp; 3D Brain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63456" y="5532120"/>
            <a:ext cx="2066543" cy="5029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Automated DOCX / PACS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o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64592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32004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</a:defRPr>
            </a:pPr>
            <a:r>
              <a:t>Advantage of CT-SE(2)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Clinical Superiority Against Human Radiologists and Baseline CNNs</a:t>
            </a:r>
          </a:p>
        </p:txBody>
      </p:sp>
      <p:pic>
        <p:nvPicPr>
          <p:cNvPr id="4" name="Picture 3" descr="logo_n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217920"/>
            <a:ext cx="237744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2636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25780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Objective tumor boundary delineation</a:t>
            </a:r>
          </a:p>
        </p:txBody>
      </p:sp>
      <p:pic>
        <p:nvPicPr>
          <p:cNvPr id="7" name="Picture 6" descr="card1_full_vis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444752"/>
            <a:ext cx="5038344" cy="18745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72200" y="1097280"/>
            <a:ext cx="525780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Higher diagnostic accuracy</a:t>
            </a:r>
          </a:p>
        </p:txBody>
      </p:sp>
      <p:pic>
        <p:nvPicPr>
          <p:cNvPr id="9" name="Picture 8" descr="card2_full_vis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444752"/>
            <a:ext cx="5038344" cy="187451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3566160"/>
            <a:ext cx="525780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Stable delineation of borderline &amp; tilted cases</a:t>
            </a:r>
          </a:p>
        </p:txBody>
      </p:sp>
      <p:pic>
        <p:nvPicPr>
          <p:cNvPr id="11" name="Picture 10" descr="card3_full_visu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913632"/>
            <a:ext cx="5038344" cy="187451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72200" y="3566160"/>
            <a:ext cx="525780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Consistent, structured reporting</a:t>
            </a:r>
          </a:p>
        </p:txBody>
      </p:sp>
      <p:pic>
        <p:nvPicPr>
          <p:cNvPr id="13" name="Picture 12" descr="card4_full_visu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3913632"/>
            <a:ext cx="5038344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o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64592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32004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</a:defRPr>
            </a:pPr>
            <a:r>
              <a:t>CT-SE(2) Architecture &amp; Pipeline Flow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Group Equivariant Convolutional Network (C8 / N=8 Rotations) with Multi-Model Consensus Engine</a:t>
            </a:r>
          </a:p>
        </p:txBody>
      </p:sp>
      <p:pic>
        <p:nvPicPr>
          <p:cNvPr id="4" name="Picture 3" descr="logo_n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217920"/>
            <a:ext cx="237744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2636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280160"/>
            <a:ext cx="2029968" cy="29718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353312"/>
            <a:ext cx="20299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1. 2.5D CT Triplet</a:t>
            </a:r>
          </a:p>
        </p:txBody>
      </p:sp>
      <p:pic>
        <p:nvPicPr>
          <p:cNvPr id="8" name="Picture 7" descr="real_raw_ct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1691640"/>
            <a:ext cx="1645920" cy="1508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" y="3246120"/>
            <a:ext cx="19385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1E293B"/>
                </a:solidFill>
              </a:defRPr>
            </a:pPr>
            <a:r>
              <a:t>• Raw CT [B, 3, 256, 256]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[z-1, z, z+1] Inter-slice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Real Patient NCCT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2377440"/>
            <a:ext cx="21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3784" y="1280160"/>
            <a:ext cx="2029968" cy="2971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1353312"/>
            <a:ext cx="20299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2. C8 Group R2Conv</a:t>
            </a:r>
          </a:p>
        </p:txBody>
      </p:sp>
      <p:pic>
        <p:nvPicPr>
          <p:cNvPr id="13" name="Picture 12" descr="c8_rotation_ros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808" y="1691640"/>
            <a:ext cx="1645920" cy="1508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89504" y="3246120"/>
            <a:ext cx="19385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1E293B"/>
                </a:solidFill>
              </a:defRPr>
            </a:pPr>
            <a:r>
              <a:t>• 8 Discrete Rotations (45°)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Pointwise MaxPool (2x2)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Channels: 24 -&gt; 48 -&gt; 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2377440"/>
            <a:ext cx="21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280160"/>
            <a:ext cx="2029968" cy="29718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1353312"/>
            <a:ext cx="20299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3. Group Bottleneck</a:t>
            </a:r>
          </a:p>
        </p:txBody>
      </p:sp>
      <p:pic>
        <p:nvPicPr>
          <p:cNvPr id="18" name="Picture 17" descr="deep_latent_fea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088" y="1691640"/>
            <a:ext cx="1645920" cy="1508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29784" y="3246120"/>
            <a:ext cx="19385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1E293B"/>
                </a:solidFill>
              </a:defRPr>
            </a:pPr>
            <a:r>
              <a:t>• 192 Equivariant channels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Invariant representation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f(g · x) = g · f(x)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377440"/>
            <a:ext cx="21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4344" y="1280160"/>
            <a:ext cx="2029968" cy="2971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24344" y="1353312"/>
            <a:ext cx="20299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4. Equivariant Decoder</a:t>
            </a:r>
          </a:p>
        </p:txBody>
      </p:sp>
      <p:pic>
        <p:nvPicPr>
          <p:cNvPr id="23" name="Picture 22" descr="decoder_fea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368" y="1691640"/>
            <a:ext cx="1645920" cy="1508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70064" y="3246120"/>
            <a:ext cx="19385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1E293B"/>
                </a:solidFill>
              </a:defRPr>
            </a:pPr>
            <a:r>
              <a:t>• R2Upsampling (2x scale)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Direct-Sum Skip (⊕)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Sub-mm edge refinement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377440"/>
            <a:ext cx="21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64624" y="1280160"/>
            <a:ext cx="2029968" cy="29718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64624" y="1353312"/>
            <a:ext cx="20299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5803D"/>
                </a:solidFill>
              </a:defRPr>
            </a:pPr>
            <a:r>
              <a:t>5. Output SOTA Mask</a:t>
            </a:r>
          </a:p>
        </p:txBody>
      </p:sp>
      <p:pic>
        <p:nvPicPr>
          <p:cNvPr id="28" name="Picture 27" descr="real_se2_pred_outp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6648" y="1691640"/>
            <a:ext cx="1645920" cy="1508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610344" y="3246120"/>
            <a:ext cx="19385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1E293B"/>
                </a:solidFill>
              </a:defRPr>
            </a:pPr>
            <a:r>
              <a:t>• 84.2% Dice | 73.1% IoU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Real Output from Platform</a:t>
            </a:r>
          </a:p>
          <a:p>
            <a:pPr>
              <a:spcBef>
                <a:spcPts val="200"/>
              </a:spcBef>
              <a:defRPr sz="919">
                <a:solidFill>
                  <a:srgbClr val="1E293B"/>
                </a:solidFill>
              </a:defRPr>
            </a:pPr>
            <a:r>
              <a:t>• 3D Volumetric ROI mask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1115568"/>
            <a:ext cx="649224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Equivariant Direct-Sum Skip Connections (⊕ Preserves Sub-Millimeter Boundaries)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" y="4434840"/>
            <a:ext cx="352044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942"/>
                </a:solidFill>
              </a:defRPr>
            </a:pPr>
            <a:r>
              <a:t>Advanced Combined Loss Function</a:t>
            </a:r>
          </a:p>
          <a:p>
            <a:pPr>
              <a:spcBef>
                <a:spcPts val="400"/>
              </a:spcBef>
              <a:defRPr sz="900" b="1">
                <a:solidFill>
                  <a:srgbClr val="0F2942"/>
                </a:solidFill>
              </a:defRPr>
            </a:pPr>
            <a:r>
              <a:t>L_total = 2.0*Dice + 0.5*Focal + 0.5*Edge</a:t>
            </a:r>
          </a:p>
          <a:p>
            <a:pPr>
              <a:spcBef>
                <a:spcPts val="250"/>
              </a:spcBef>
              <a:defRPr sz="900">
                <a:solidFill>
                  <a:srgbClr val="1E293B"/>
                </a:solidFill>
              </a:defRPr>
            </a:pPr>
            <a:r>
              <a:t>• Class Weighting [1.0, 10.0] tackles extreme foreground imbalance</a:t>
            </a:r>
          </a:p>
          <a:p>
            <a:pPr>
              <a:spcBef>
                <a:spcPts val="250"/>
              </a:spcBef>
              <a:defRPr sz="900">
                <a:solidFill>
                  <a:srgbClr val="1E293B"/>
                </a:solidFill>
              </a:defRPr>
            </a:pPr>
            <a:r>
              <a:t>• Focal Loss (gamma=2.0) suppresses trivial brain background</a:t>
            </a:r>
          </a:p>
          <a:p>
            <a:pPr>
              <a:spcBef>
                <a:spcPts val="250"/>
              </a:spcBef>
              <a:defRPr sz="900">
                <a:solidFill>
                  <a:srgbClr val="1E293B"/>
                </a:solidFill>
              </a:defRPr>
            </a:pPr>
            <a:r>
              <a:t>• Edge Loss penalizes fuzzy, indistinct tumor boundaries</a:t>
            </a:r>
          </a:p>
          <a:p>
            <a:pPr>
              <a:spcBef>
                <a:spcPts val="250"/>
              </a:spcBef>
              <a:defRPr sz="900">
                <a:solidFill>
                  <a:srgbClr val="1E293B"/>
                </a:solidFill>
              </a:defRPr>
            </a:pPr>
            <a:r>
              <a:t>• Cosine Annealing Optimizer with Warm Restarts (LR 3e-5)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52544" y="4434840"/>
            <a:ext cx="3520440" cy="16916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C8 Group Invariance Guarantee</a:t>
            </a:r>
          </a:p>
          <a:p>
            <a:pPr>
              <a:spcBef>
                <a:spcPts val="400"/>
              </a:spcBef>
              <a:defRPr sz="900" b="1">
                <a:solidFill>
                  <a:srgbClr val="1E3A8A"/>
                </a:solidFill>
              </a:defRPr>
            </a:pPr>
            <a:r>
              <a:t>ρ_out(g)[K ⋆ f](x) = [K ⋆ ρ_in(g)f](x)</a:t>
            </a:r>
          </a:p>
          <a:p>
            <a:pPr>
              <a:spcBef>
                <a:spcPts val="250"/>
              </a:spcBef>
              <a:defRPr sz="900">
                <a:solidFill>
                  <a:srgbClr val="1E293B"/>
                </a:solidFill>
              </a:defRPr>
            </a:pPr>
            <a:r>
              <a:t>• 8 Rotational symmetries spaced by 45° around scanner axis</a:t>
            </a:r>
          </a:p>
          <a:p>
            <a:pPr>
              <a:spcBef>
                <a:spcPts val="250"/>
              </a:spcBef>
              <a:defRPr sz="900">
                <a:solidFill>
                  <a:srgbClr val="1E293B"/>
                </a:solidFill>
              </a:defRPr>
            </a:pPr>
            <a:r>
              <a:t>• Steerable harmonic basis convolutions in R2Conv filter banks</a:t>
            </a:r>
          </a:p>
          <a:p>
            <a:pPr>
              <a:spcBef>
                <a:spcPts val="250"/>
              </a:spcBef>
              <a:defRPr sz="900">
                <a:solidFill>
                  <a:srgbClr val="1E293B"/>
                </a:solidFill>
              </a:defRPr>
            </a:pPr>
            <a:r>
              <a:t>• Mathematical guarantee: tumor boundary is segmented identically</a:t>
            </a:r>
          </a:p>
          <a:p>
            <a:pPr>
              <a:spcBef>
                <a:spcPts val="250"/>
              </a:spcBef>
              <a:defRPr sz="900">
                <a:solidFill>
                  <a:srgbClr val="1E293B"/>
                </a:solidFill>
              </a:defRPr>
            </a:pPr>
            <a:r>
              <a:t>  regardless of patient head tilt or scanner couch skew angle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3" y="4434840"/>
            <a:ext cx="3520440" cy="16916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5803D"/>
                </a:solidFill>
              </a:defRPr>
            </a:pPr>
            <a:r>
              <a:t>Multi-Model Consensus &amp; 3D Volumetry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6 Benchmark Architectures Ensemble Voting</a:t>
            </a:r>
          </a:p>
          <a:p>
            <a:pPr>
              <a:spcBef>
                <a:spcPts val="250"/>
              </a:spcBef>
              <a:defRPr sz="900">
                <a:solidFill>
                  <a:srgbClr val="1E293B"/>
                </a:solidFill>
              </a:defRPr>
            </a:pPr>
            <a:r>
              <a:t>  (CT-SE(2), HarmonicNet C4, nnU-Net, Attention U-Net)</a:t>
            </a:r>
          </a:p>
          <a:p>
            <a:pPr>
              <a:spcBef>
                <a:spcPts val="250"/>
              </a:spcBef>
              <a:defRPr sz="900">
                <a:solidFill>
                  <a:srgbClr val="1E293B"/>
                </a:solidFill>
              </a:defRPr>
            </a:pPr>
            <a:r>
              <a:t>• CT-SE(2) SOTA: 84.2% Dice | 73.1% IoU on NCCT</a:t>
            </a:r>
          </a:p>
          <a:p>
            <a:pPr>
              <a:spcBef>
                <a:spcPts val="250"/>
              </a:spcBef>
              <a:defRPr sz="900">
                <a:solidFill>
                  <a:srgbClr val="1E293B"/>
                </a:solidFill>
              </a:defRPr>
            </a:pPr>
            <a:r>
              <a:t>• Pixel-wise uncertainty agreement heatmap at 0.80 threshold</a:t>
            </a:r>
          </a:p>
          <a:p>
            <a:pPr>
              <a:spcBef>
                <a:spcPts val="250"/>
              </a:spcBef>
              <a:defRPr sz="900">
                <a:solidFill>
                  <a:srgbClr val="1E293B"/>
                </a:solidFill>
              </a:defRPr>
            </a:pPr>
            <a:r>
              <a:t>• Automated 3D Volumetry: Tumor (mL), Edema (mL), Sphericity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