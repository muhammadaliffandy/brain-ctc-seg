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Brain-CT-Seg: AI for Brain Tumor Segmentation &amp; Risk Volumetry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Overcoming Machine, Deep Learning, and Clinical Radiologist Barriers in Non-Contrast CT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Machine / Acquisition</a:t>
            </a:r>
          </a:p>
        </p:txBody>
      </p:sp>
      <p:pic>
        <p:nvPicPr>
          <p:cNvPr id="7" name="Picture 6" descr="ct_scanner_mach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508760"/>
            <a:ext cx="2377440" cy="1234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7889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• The rotation problem (patient head tilt &amp; couch skew)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Multi-vendor variability (Siemens, GE, Philips)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88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Software / Deep Learning</a:t>
            </a:r>
          </a:p>
        </p:txBody>
      </p:sp>
      <p:pic>
        <p:nvPicPr>
          <p:cNvPr id="10" name="Picture 9" descr="ref_softw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508760"/>
            <a:ext cx="173736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0" y="27889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• Failure of standard CNNs on tilted/rotated scans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Severe 12–18% Dice drop under domain shift on NCCT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188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Medical Doctor / Radiologist</a:t>
            </a:r>
          </a:p>
        </p:txBody>
      </p:sp>
      <p:pic>
        <p:nvPicPr>
          <p:cNvPr id="13" name="Picture 12" descr="slide1_doctor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508760"/>
            <a:ext cx="2194560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27889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• Subjectivity of manual tumor boundary delineation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High inter-observer variance (radiologist Dice 65–75%)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566160"/>
            <a:ext cx="1033272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5803D"/>
                </a:solidFill>
              </a:defRPr>
            </a:pPr>
            <a:r>
              <a:t>Mod-Seg-SE(2) Consensus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2942"/>
                </a:solidFill>
              </a:defRPr>
            </a:pPr>
            <a:r>
              <a:t>Equivariant Group Theory Backbone (C8 / N=8 discrete rotations) + 6-Model Consensus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4343400"/>
            <a:ext cx="310896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Equivariant R2Conv (C8)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Guarantees f(g·x) = g·f(x). Boundary is identical at any scan angle.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310896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6-Model Consensus Engine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Combines Mod-Seg-SE(2), HarmonicNet, nnU-Net with calibrated 0.80 threshold.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343400"/>
            <a:ext cx="3108960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Automated 3D Volumetry</a:t>
            </a:r>
          </a:p>
          <a:p>
            <a:pPr>
              <a:spcBef>
                <a:spcPts val="200"/>
              </a:spcBef>
              <a:defRPr sz="919">
                <a:solidFill>
                  <a:srgbClr val="1E293B"/>
                </a:solidFill>
              </a:defRPr>
            </a:pPr>
            <a:r>
              <a:t>Quantifies Tumor Volume (mL), Edema, Sphericity, and Midline Shift.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5440680"/>
            <a:ext cx="8138160" cy="5943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50" b="1">
                <a:solidFill>
                  <a:srgbClr val="FFFFFF"/>
                </a:solidFill>
              </a:defRPr>
            </a:pPr>
            <a:r>
              <a:t>84.2% Dice | 73.1% IoU SOTA Segmentation &amp; Quantitative 3D Volumetry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Framework Prototype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 clinical brain tumor evaluation platform in a browser tab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65760"/>
            <a:ext cx="1645920" cy="4114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Demo ⚡</a:t>
            </a:r>
          </a:p>
        </p:txBody>
      </p:sp>
      <p:pic>
        <p:nvPicPr>
          <p:cNvPr id="7" name="Picture 6" descr="dashboard_mpr_consensus_17923462008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88720"/>
            <a:ext cx="804672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61120" y="1188720"/>
            <a:ext cx="24688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Zero-install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No GPU required on client,</a:t>
            </a:r>
            <a:br/>
            <a:r>
              <a:t>Instant browser access via Ngrok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06040"/>
            <a:ext cx="2468880" cy="12344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Vendor-agnostic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Calibrated for NCCT &amp; CTC</a:t>
            </a:r>
            <a:br/>
            <a:r>
              <a:t>across Siemens, GE, Philips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023360"/>
            <a:ext cx="2468880" cy="12344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Privacy by design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Local edge server inference,</a:t>
            </a:r>
            <a:br/>
            <a:r>
              <a:t>Automated PACS &amp; DOCX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2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2.5D Slice Triplet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553212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+ Mod-SE(2) Backbone (N=8)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5532120"/>
            <a:ext cx="2066543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6-Model Consensus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5532120"/>
            <a:ext cx="2066543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High-Clarity MPR &amp; 3D BBox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3456" y="5532120"/>
            <a:ext cx="2066543" cy="50292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Automated DOCX / PACS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Advantage of Mod-Seg-SE(2)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Clinical Superiority Against Human Radiologists and Baseline CNNs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Objective tumor boundary delineation</a:t>
            </a:r>
          </a:p>
        </p:txBody>
      </p:sp>
      <p:pic>
        <p:nvPicPr>
          <p:cNvPr id="7" name="Picture 6" descr="card1_full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44752"/>
            <a:ext cx="5038344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09728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Higher diagnostic accuracy</a:t>
            </a:r>
          </a:p>
        </p:txBody>
      </p:sp>
      <p:pic>
        <p:nvPicPr>
          <p:cNvPr id="9" name="Picture 8" descr="card2_full_visu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444752"/>
            <a:ext cx="5038344" cy="18745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56616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Stable delineation of borderline &amp; tilted cases</a:t>
            </a:r>
          </a:p>
        </p:txBody>
      </p:sp>
      <p:pic>
        <p:nvPicPr>
          <p:cNvPr id="11" name="Picture 10" descr="card3_full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13632"/>
            <a:ext cx="5038344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356616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Consistent, structured reporting</a:t>
            </a:r>
          </a:p>
        </p:txBody>
      </p:sp>
      <p:pic>
        <p:nvPicPr>
          <p:cNvPr id="13" name="Picture 12" descr="card4_full_visu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3913632"/>
            <a:ext cx="5038344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Mod-Seg-SE(2) Architecture &amp; Pipeline Flow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Group Equivariant Convolutional Network (C8 / N=8 Rotations) with Multi-Model Consensus Engine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4</a:t>
            </a:r>
          </a:p>
        </p:txBody>
      </p:sp>
      <p:pic>
        <p:nvPicPr>
          <p:cNvPr id="6" name="Picture 5" descr="arch_flow_real_plat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10725912" cy="4983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