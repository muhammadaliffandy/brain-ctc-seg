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Brain-CT-Seg: AI for Brain Tumor Segmentation &amp; Risk Volumetry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Overcoming Machine, Deep Learning, and Clinical Radiologist Barriers in Non-Contrast 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383280" cy="201168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C2626"/>
                </a:solidFill>
              </a:defRPr>
            </a:pPr>
            <a:r>
              <a:t>Machine / Acquisition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The rotation &amp; head tilt problem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Sparse 5mm slice thickness &amp; couch gaps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Cross-vendor variability (GE, Siemens, Philips)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280160"/>
            <a:ext cx="3383280" cy="201168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</a:defRPr>
            </a:pPr>
            <a:r>
              <a:t>Software / AI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Failure of standard CNNs on rotated scans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Severe 12–18% Dice drop under domain shift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Overconfident false positive tumor predictions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280160"/>
            <a:ext cx="3383280" cy="201168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Medical Doctor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Subjectivity of human boundary delineation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High inter-observer variance (Dice 65–75%)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• Subtle tumor contrast on Non-Contrast 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66160"/>
            <a:ext cx="10698480" cy="1691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5803D"/>
                </a:solidFill>
              </a:defRPr>
            </a:pPr>
            <a:r>
              <a:t>Mod-Seg-SE(2) Consensus Platform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0F2942"/>
                </a:solidFill>
              </a:defRPr>
            </a:pPr>
            <a:r>
              <a:t>Equivariant Group Theory Backbone (N=8 discrete rotations) + 6-Model Consensus Heatmap Engine</a:t>
            </a:r>
          </a:p>
          <a:p>
            <a:pPr algn="ctr"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Solves rotational invariance at the mathematical group level • Eliminates radiologist inter-observer variability • Quantifies 3D multi-slice tumor volume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5486400"/>
            <a:ext cx="7589520" cy="6400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50" b="1">
                <a:solidFill>
                  <a:srgbClr val="FFFFFF"/>
                </a:solidFill>
              </a:defRPr>
            </a:pPr>
            <a:r>
              <a:t>84.2% Dice | 73.1% IoU SOTA Segmentation &amp; Quantitative 3D Volumetry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Framework Prototype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 clinical brain tumor evaluation platform in a browser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365760"/>
            <a:ext cx="1645920" cy="41148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Demo ⚡</a:t>
            </a:r>
          </a:p>
        </p:txBody>
      </p:sp>
      <p:pic>
        <p:nvPicPr>
          <p:cNvPr id="7" name="Picture 6" descr="dashboard_mpr_consensus_17923462008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8046720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61120" y="1188720"/>
            <a:ext cx="24688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Zero-install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No GPU required on client,</a:t>
            </a:r>
            <a:br/>
            <a:r>
              <a:t>Instant browser access via Ngrok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06040"/>
            <a:ext cx="2468880" cy="12344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Vendor-agnostic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Calibrated for NCCT &amp; CTC</a:t>
            </a:r>
            <a:br/>
            <a:r>
              <a:t>across Siemens, GE, Philips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023360"/>
            <a:ext cx="2468880" cy="12344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Privacy by design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Local edge server inference,</a:t>
            </a:r>
            <a:br/>
            <a:r>
              <a:t>Automated PACS &amp; DOCX 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2.5D Slice Triplet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4" y="5577840"/>
            <a:ext cx="2066543" cy="5029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+ Mod-SE(2) Backbone (N=8)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5577840"/>
            <a:ext cx="2066543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6-Model Consensus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5577840"/>
            <a:ext cx="2066543" cy="5029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High-Clarity MPR &amp; 3D BBox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3456" y="5577840"/>
            <a:ext cx="2066543" cy="502920"/>
          </a:xfrm>
          <a:prstGeom prst="round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Automated DOCX / PACS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Advantage of Mod-Seg-SE(2)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Clinical Superiority Against Human Radiologists and Baseline CNNs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Objective Tumor Boundary Delineation</a:t>
            </a:r>
          </a:p>
        </p:txBody>
      </p:sp>
      <p:pic>
        <p:nvPicPr>
          <p:cNvPr id="7" name="Picture 6" descr="card1_full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527048"/>
            <a:ext cx="5038344" cy="1947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143000"/>
            <a:ext cx="5257800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Higher Segmentation &amp; Diagnostic Accuracy</a:t>
            </a:r>
          </a:p>
        </p:txBody>
      </p:sp>
      <p:pic>
        <p:nvPicPr>
          <p:cNvPr id="9" name="Picture 8" descr="card2_full_vis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527048"/>
            <a:ext cx="5038344" cy="19476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3703320"/>
            <a:ext cx="5257800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Stable Delineation Under Head Tilt &amp; Rotation</a:t>
            </a:r>
          </a:p>
        </p:txBody>
      </p:sp>
      <p:pic>
        <p:nvPicPr>
          <p:cNvPr id="11" name="Picture 10" descr="card3_full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087368"/>
            <a:ext cx="5038344" cy="19476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3703320"/>
            <a:ext cx="5257800" cy="2423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Consistent, Structured Volumetric Reporting</a:t>
            </a:r>
          </a:p>
        </p:txBody>
      </p:sp>
      <p:pic>
        <p:nvPicPr>
          <p:cNvPr id="13" name="Picture 12" descr="card4_full_visu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087368"/>
            <a:ext cx="5038344" cy="1947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942"/>
                </a:solidFill>
              </a:defRPr>
            </a:pPr>
            <a:r>
              <a:t>OPTICAL SYSTEMS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0" y="3200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E3A8A"/>
                </a:solidFill>
              </a:defRPr>
            </a:pPr>
            <a:r>
              <a:t>Mod-Seg-SE(2) Architecture &amp; Pipeline Flow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Group Equivariant Convolutional Network (C8 / N=8 Rotations) with Multi-Model Consensus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National Taiwan University • NTU GSAT | Brain-CTC-Seg Consortium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293B"/>
                </a:solidFill>
              </a:defRPr>
            </a:pPr>
            <a:r>
              <a:t>4</a:t>
            </a:r>
          </a:p>
        </p:txBody>
      </p:sp>
      <p:pic>
        <p:nvPicPr>
          <p:cNvPr id="6" name="Picture 5" descr="arch_flow_visual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5912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