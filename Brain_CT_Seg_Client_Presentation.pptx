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Brain-CT-Seg: AI for Brain Tumor Segmentation &amp; Risk Volumetry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Overcoming Machine, Deep Learning, and Clinical Radiologist Barriers in Non-Contrast CT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18872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/>
            </a:pPr>
            <a:r>
              <a:t>Machine</a:t>
            </a:r>
          </a:p>
        </p:txBody>
      </p:sp>
      <p:pic>
        <p:nvPicPr>
          <p:cNvPr id="7" name="Picture 6" descr="ct_scanner_mach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508760"/>
            <a:ext cx="2377440" cy="1234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2788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1E293B"/>
                </a:solidFill>
              </a:defRPr>
            </a:pPr>
            <a:r>
              <a:t>The rotation problem (head tilt &amp; couch angle)</a:t>
            </a:r>
          </a:p>
          <a:p>
            <a:pPr algn="ctr">
              <a:defRPr sz="1050">
                <a:solidFill>
                  <a:srgbClr val="1E293B"/>
                </a:solidFill>
              </a:defRPr>
            </a:pPr>
            <a:r>
              <a:t>Vendor variability (Siemens, GE, Philips)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8872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/>
            </a:pPr>
            <a:r>
              <a:t>Software</a:t>
            </a:r>
          </a:p>
        </p:txBody>
      </p:sp>
      <p:pic>
        <p:nvPicPr>
          <p:cNvPr id="10" name="Picture 9" descr="ref_softw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508760"/>
            <a:ext cx="173736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63440" y="2788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1E293B"/>
                </a:solidFill>
              </a:defRPr>
            </a:pPr>
            <a:r>
              <a:t>Failure of deep learning on rotated scans</a:t>
            </a:r>
          </a:p>
          <a:p>
            <a:pPr algn="ctr">
              <a:defRPr sz="1050">
                <a:solidFill>
                  <a:srgbClr val="1E293B"/>
                </a:solidFill>
              </a:defRPr>
            </a:pPr>
            <a:r>
              <a:t>Poor generalization on low-contrast NCCT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18872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/>
            </a:pPr>
            <a:r>
              <a:t>Medical Doctor</a:t>
            </a:r>
          </a:p>
        </p:txBody>
      </p:sp>
      <p:pic>
        <p:nvPicPr>
          <p:cNvPr id="13" name="Picture 12" descr="slide1_doctor_visu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1508760"/>
            <a:ext cx="2194560" cy="12344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0" y="2788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1E293B"/>
                </a:solidFill>
              </a:defRPr>
            </a:pPr>
            <a:r>
              <a:t>Subjectivity of human judgment</a:t>
            </a:r>
          </a:p>
          <a:p>
            <a:pPr algn="ctr">
              <a:defRPr sz="1050">
                <a:solidFill>
                  <a:srgbClr val="1E293B"/>
                </a:solidFill>
              </a:defRPr>
            </a:pPr>
            <a:r>
              <a:t>Variability of tumor boundary delineation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3611880"/>
            <a:ext cx="859536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3685032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 u="sng">
                <a:solidFill>
                  <a:srgbClr val="0F2942"/>
                </a:solidFill>
              </a:defRPr>
            </a:pPr>
            <a:r>
              <a:t>Brain-CT-Seg</a:t>
            </a:r>
          </a:p>
        </p:txBody>
      </p:sp>
      <p:pic>
        <p:nvPicPr>
          <p:cNvPr id="17" name="Picture 16" descr="ref_robo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4050792"/>
            <a:ext cx="4754880" cy="9601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28800" y="502920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F2942"/>
                </a:solidFill>
              </a:defRPr>
            </a:pPr>
            <a:r>
              <a:t>AI Agent (Segmentation Agent and Volumetric Reporting Agent)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486400"/>
            <a:ext cx="8595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5803D"/>
                </a:solidFill>
              </a:defRPr>
            </a:pPr>
            <a:r>
              <a:t>84.2% Dice | 73.1% IoU</a:t>
            </a:r>
          </a:p>
          <a:p>
            <a:pPr algn="ctr">
              <a:defRPr sz="1200">
                <a:solidFill>
                  <a:srgbClr val="0F2942"/>
                </a:solidFill>
              </a:defRPr>
            </a:pPr>
            <a:r>
              <a:t>Brain Tumor Segmentation &amp; Quantitative 3D Volumetry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Framework Prototype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 clinical brain tumor evaluation platform in a browser tab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65760"/>
            <a:ext cx="1645920" cy="41148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Demo ⚡</a:t>
            </a:r>
          </a:p>
        </p:txBody>
      </p:sp>
      <p:pic>
        <p:nvPicPr>
          <p:cNvPr id="7" name="Picture 6" descr="dashboard_mpr_consensus_17923462008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88720"/>
            <a:ext cx="804672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61120" y="1188720"/>
            <a:ext cx="2468880" cy="123444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Zero-install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No GPU required on client,</a:t>
            </a:r>
            <a:br/>
            <a:r>
              <a:t>Instant browser access via Ngrok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606040"/>
            <a:ext cx="2468880" cy="12344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Vendor-agnostic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Calibrated for NCCT &amp; CTC</a:t>
            </a:r>
            <a:br/>
            <a:r>
              <a:t>across Siemens, GE, Philips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4023360"/>
            <a:ext cx="2468880" cy="12344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Privacy by design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Local edge server inference,</a:t>
            </a:r>
            <a:br/>
            <a:r>
              <a:t>Automated PACS &amp; DOCX 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3212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2.5D Slice Triplet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553212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+ Mod-SE(2) Backbone (N=8)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5532120"/>
            <a:ext cx="2066543" cy="502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6-Model Consensus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5472" y="5532120"/>
            <a:ext cx="2066543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High-Clarity MPR &amp; 3D BBox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3456" y="5532120"/>
            <a:ext cx="2066543" cy="50292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Automated DOCX / PACS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Advantage of Mod-Seg-SE(2)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Objective tumor boundary delineation</a:t>
            </a:r>
          </a:p>
        </p:txBody>
      </p:sp>
      <p:pic>
        <p:nvPicPr>
          <p:cNvPr id="7" name="Picture 6" descr="card1_full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444752"/>
            <a:ext cx="5038344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09728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Higher diagnostic accuracy</a:t>
            </a:r>
          </a:p>
        </p:txBody>
      </p:sp>
      <p:pic>
        <p:nvPicPr>
          <p:cNvPr id="9" name="Picture 8" descr="card2_full_visu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1444752"/>
            <a:ext cx="5038344" cy="187451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356616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Stable delineation of borderline &amp; tilted cases</a:t>
            </a:r>
          </a:p>
        </p:txBody>
      </p:sp>
      <p:pic>
        <p:nvPicPr>
          <p:cNvPr id="11" name="Picture 10" descr="card3_full_visu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13632"/>
            <a:ext cx="5038344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3566160"/>
            <a:ext cx="525780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Consistent, structured reporting</a:t>
            </a:r>
          </a:p>
        </p:txBody>
      </p:sp>
      <p:pic>
        <p:nvPicPr>
          <p:cNvPr id="13" name="Picture 12" descr="card4_full_visu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3913632"/>
            <a:ext cx="5038344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o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64592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3200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Mod-Seg-SE(2) Architecture &amp; Pipeline Flow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Group Equivariant Convolutional Network (C8 / N=8 Rotations) with Multi-Model Consensus Engine</a:t>
            </a:r>
          </a:p>
        </p:txBody>
      </p:sp>
      <p:pic>
        <p:nvPicPr>
          <p:cNvPr id="4" name="Picture 3" descr="logo_n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17920"/>
            <a:ext cx="237744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2636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4</a:t>
            </a:r>
          </a:p>
        </p:txBody>
      </p:sp>
      <p:pic>
        <p:nvPicPr>
          <p:cNvPr id="6" name="Picture 5" descr="arch_flow_visual_comple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88720"/>
            <a:ext cx="10725912" cy="4892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