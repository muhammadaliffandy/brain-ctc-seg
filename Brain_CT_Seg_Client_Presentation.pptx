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942"/>
                </a:solidFill>
              </a:defRPr>
            </a:pPr>
            <a:r>
              <a:t>OPTICAL SYSTEMS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17520" y="32004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Brain-CT-Seg: AI for Brain Tumor Segmentation &amp; Risk Volumetry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Overcoming Machine, Deep Learning, and Clinical Radiologist Barriers in Non-Contrast 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National Taiwan University • NTU GSAT | Brain-CTC-Seg Consortium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293B"/>
                </a:solidFill>
              </a:defRPr>
            </a:pPr>
            <a: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383280" cy="2011680"/>
          </a:xfrm>
          <a:prstGeom prst="roundRect">
            <a:avLst/>
          </a:prstGeom>
          <a:solidFill>
            <a:srgbClr val="FEE2E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C2626"/>
                </a:solidFill>
              </a:defRPr>
            </a:pPr>
            <a:r>
              <a:t>🏥 Machine / Acquisition</a:t>
            </a:r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</a:defRPr>
            </a:pPr>
            <a:r>
              <a:t>• The rotation &amp; head tilt problem</a:t>
            </a:r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</a:defRPr>
            </a:pPr>
            <a:r>
              <a:t>• Sparse 5mm slice thickness &amp; couch gaps</a:t>
            </a:r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</a:defRPr>
            </a:pPr>
            <a:r>
              <a:t>• Cross-vendor variability (GE, Siemens, Philips)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371600"/>
            <a:ext cx="3383280" cy="201168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97706"/>
                </a:solidFill>
              </a:defRPr>
            </a:pPr>
            <a:r>
              <a:t>🧠 Software / AI</a:t>
            </a:r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</a:defRPr>
            </a:pPr>
            <a:r>
              <a:t>• Failure of standard CNNs on rotated scans</a:t>
            </a:r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</a:defRPr>
            </a:pPr>
            <a:r>
              <a:t>• Severe 12–18% Dice drop under domain shift</a:t>
            </a:r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</a:defRPr>
            </a:pPr>
            <a:r>
              <a:t>• Overconfident false positive tumor predictions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371600"/>
            <a:ext cx="3383280" cy="201168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E3A8A"/>
                </a:solidFill>
              </a:defRPr>
            </a:pPr>
            <a:r>
              <a:t>👨‍⚕️ Medical Doctor</a:t>
            </a:r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</a:defRPr>
            </a:pPr>
            <a:r>
              <a:t>• Subjectivity of human boundary delineation</a:t>
            </a:r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</a:defRPr>
            </a:pPr>
            <a:r>
              <a:t>• High inter-observer variance (Dice 65–75%)</a:t>
            </a:r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</a:defRPr>
            </a:pPr>
            <a:r>
              <a:t>• Subtle tumor contrast on Non-Contrast 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657600"/>
            <a:ext cx="10698480" cy="16459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5803D"/>
                </a:solidFill>
              </a:defRPr>
            </a:pPr>
            <a:r>
              <a:t>Mod-Seg-SE(2) Consensus Platform</a:t>
            </a:r>
          </a:p>
          <a:p>
            <a:pPr algn="ctr">
              <a:spcBef>
                <a:spcPts val="400"/>
              </a:spcBef>
              <a:defRPr sz="1300" b="1">
                <a:solidFill>
                  <a:srgbClr val="0F2942"/>
                </a:solidFill>
              </a:defRPr>
            </a:pPr>
            <a:r>
              <a:t>Equivariant Group Theory Backbone (N=8 discrete rotations) + 6-Model Consensus Heatmap Engine</a:t>
            </a:r>
          </a:p>
          <a:p>
            <a:pPr algn="ctr"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Solves rotational invariance at the mathematical group level • Eliminates radiologist inter-observer variability • Quantifies 3D multi-slice tumor volume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0" y="5486400"/>
            <a:ext cx="7589520" cy="64008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84.2% Dice | 73.1% IoU SOTA Segmentation &amp; Quantitative 3D Volumetry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942"/>
                </a:solidFill>
              </a:defRPr>
            </a:pPr>
            <a:r>
              <a:t>OPTICAL SYSTEMS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17520" y="32004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Framework Prototype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A clinical brain tumor evaluation platform in a browser tab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National Taiwan University • NTU GSAT | Brain-CTC-Seg Consortium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293B"/>
                </a:solidFill>
              </a:defRPr>
            </a:pPr>
            <a: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75520" y="365760"/>
            <a:ext cx="1645920" cy="41148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Live Demo ⚡</a:t>
            </a:r>
          </a:p>
        </p:txBody>
      </p:sp>
      <p:pic>
        <p:nvPicPr>
          <p:cNvPr id="7" name="Picture 6" descr="dashboard_mpr_consensus_17923462008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8046720" cy="41148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961120" y="1188720"/>
            <a:ext cx="2468880" cy="1234440"/>
          </a:xfrm>
          <a:prstGeom prst="round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Zero-install</a:t>
            </a:r>
          </a:p>
          <a:p>
            <a:pPr>
              <a:spcBef>
                <a:spcPts val="400"/>
              </a:spcBef>
              <a:defRPr sz="1100">
                <a:solidFill>
                  <a:srgbClr val="FFFFFF"/>
                </a:solidFill>
              </a:defRPr>
            </a:pPr>
            <a:r>
              <a:t>No GPU required on client,</a:t>
            </a:r>
            <a:br/>
            <a:r>
              <a:t>Instant browser access via Ngrok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2606040"/>
            <a:ext cx="2468880" cy="123444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Vendor-agnostic</a:t>
            </a:r>
          </a:p>
          <a:p>
            <a:pPr>
              <a:spcBef>
                <a:spcPts val="400"/>
              </a:spcBef>
              <a:defRPr sz="1100">
                <a:solidFill>
                  <a:srgbClr val="FFFFFF"/>
                </a:solidFill>
              </a:defRPr>
            </a:pPr>
            <a:r>
              <a:t>Calibrated for NCCT &amp; CTC</a:t>
            </a:r>
            <a:br/>
            <a:r>
              <a:t>across Siemens, GE, Philips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4023360"/>
            <a:ext cx="2468880" cy="123444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Privacy by design</a:t>
            </a:r>
          </a:p>
          <a:p>
            <a:pPr>
              <a:spcBef>
                <a:spcPts val="400"/>
              </a:spcBef>
              <a:defRPr sz="1100">
                <a:solidFill>
                  <a:srgbClr val="FFFFFF"/>
                </a:solidFill>
              </a:defRPr>
            </a:pPr>
            <a:r>
              <a:t>Local edge server inference,</a:t>
            </a:r>
            <a:br/>
            <a:r>
              <a:t>Automated PACS &amp; DOCX reports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577840"/>
            <a:ext cx="2066543" cy="50292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2.5D Slice Triplet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4" y="5577840"/>
            <a:ext cx="2066543" cy="50292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+ Mod-SE(2) Backbone (N=8)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7488" y="5577840"/>
            <a:ext cx="2066543" cy="50292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6-Model Consensus Engine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05472" y="5577840"/>
            <a:ext cx="2066543" cy="5029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High-Clarity MPR &amp; 3D BBox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63456" y="5577840"/>
            <a:ext cx="2066543" cy="502920"/>
          </a:xfrm>
          <a:prstGeom prst="round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Automated DOCX / PACS Report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942"/>
                </a:solidFill>
              </a:defRPr>
            </a:pPr>
            <a:r>
              <a:t>OPTICAL SYSTEMS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17520" y="32004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Advantage of Mod-Seg-SE(2)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Clinical Superiority Against Human Radiologists and Baseline CNNs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National Taiwan University • NTU GSAT | Brain-CTC-Seg Consortium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293B"/>
                </a:solidFill>
              </a:defRPr>
            </a:pPr>
            <a: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88720"/>
            <a:ext cx="5257800" cy="2286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E3A8A"/>
                </a:solidFill>
              </a:defRPr>
            </a:pPr>
            <a:r>
              <a:t>Objective Tumor Boundary Delineation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600200"/>
            <a:ext cx="2377440" cy="1691640"/>
          </a:xfrm>
          <a:prstGeom prst="roundRect">
            <a:avLst/>
          </a:prstGeom>
          <a:solidFill>
            <a:srgbClr val="FEE2E2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</a:defRPr>
            </a:pPr>
            <a:r>
              <a:t>✖ Without</a:t>
            </a:r>
          </a:p>
          <a:p>
            <a:pPr>
              <a:spcBef>
                <a:spcPts val="300"/>
              </a:spcBef>
              <a:defRPr sz="1000">
                <a:solidFill>
                  <a:srgbClr val="1E293B"/>
                </a:solidFill>
              </a:defRPr>
            </a:pPr>
            <a:r>
              <a:t>Same CT scan, 3 readers delineate different margins (inter-observer Dice 65–75%)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600200"/>
            <a:ext cx="2468880" cy="1691640"/>
          </a:xfrm>
          <a:prstGeom prst="roundRect">
            <a:avLst/>
          </a:prstGeom>
          <a:solidFill>
            <a:srgbClr val="DCFCE7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5803D"/>
                </a:solidFill>
              </a:defRPr>
            </a:pPr>
            <a:r>
              <a:t>✔ With Mod-Seg-SE(2)</a:t>
            </a:r>
          </a:p>
          <a:p>
            <a:pPr>
              <a:spcBef>
                <a:spcPts val="300"/>
              </a:spcBef>
              <a:defRPr sz="1000">
                <a:solidFill>
                  <a:srgbClr val="1E293B"/>
                </a:solidFill>
              </a:defRPr>
            </a:pPr>
            <a:r>
              <a:t>One reproducible consensus outline + 6-model agreement heatmap (Dice 84.2%)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188720"/>
            <a:ext cx="5257800" cy="2286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E3A8A"/>
                </a:solidFill>
              </a:defRPr>
            </a:pPr>
            <a:r>
              <a:t>Higher Segmentation &amp; Diagnostic Accuracy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600200"/>
            <a:ext cx="2377440" cy="1691640"/>
          </a:xfrm>
          <a:prstGeom prst="roundRect">
            <a:avLst/>
          </a:prstGeom>
          <a:solidFill>
            <a:srgbClr val="FEE2E2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</a:defRPr>
            </a:pPr>
            <a:r>
              <a:t>✖ Without</a:t>
            </a:r>
          </a:p>
          <a:p>
            <a:pPr>
              <a:spcBef>
                <a:spcPts val="300"/>
              </a:spcBef>
              <a:defRPr sz="1000">
                <a:solidFill>
                  <a:srgbClr val="1E293B"/>
                </a:solidFill>
              </a:defRPr>
            </a:pPr>
            <a:r>
              <a:t>Standard U-Net: 74.2% Dice</a:t>
            </a:r>
            <a:br/>
            <a:r>
              <a:t>Attention U-Net: 76.5% Dice</a:t>
            </a:r>
            <a:br/>
            <a:r>
              <a:t>High false positive rate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600200"/>
            <a:ext cx="2468880" cy="1691640"/>
          </a:xfrm>
          <a:prstGeom prst="roundRect">
            <a:avLst/>
          </a:prstGeom>
          <a:solidFill>
            <a:srgbClr val="DCFCE7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5803D"/>
                </a:solidFill>
              </a:defRPr>
            </a:pPr>
            <a:r>
              <a:t>✔ With Mod-Seg-SE(2)</a:t>
            </a:r>
          </a:p>
          <a:p>
            <a:pPr>
              <a:spcBef>
                <a:spcPts val="300"/>
              </a:spcBef>
              <a:defRPr sz="1000">
                <a:solidFill>
                  <a:srgbClr val="1E293B"/>
                </a:solidFill>
              </a:defRPr>
            </a:pPr>
            <a:r>
              <a:t>Mod-Seg-SE(2): 84.2% Dice | 73.1% IoU</a:t>
            </a:r>
            <a:br/>
            <a:r>
              <a:t>SOTA performance on challenging NCCT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657600"/>
            <a:ext cx="5257800" cy="2286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E3A8A"/>
                </a:solidFill>
              </a:defRPr>
            </a:pPr>
            <a:r>
              <a:t>Stable Delineation Under Head Tilt &amp; Rotation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4069080"/>
            <a:ext cx="2377440" cy="1691640"/>
          </a:xfrm>
          <a:prstGeom prst="roundRect">
            <a:avLst/>
          </a:prstGeom>
          <a:solidFill>
            <a:srgbClr val="FEE2E2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</a:defRPr>
            </a:pPr>
            <a:r>
              <a:t>✖ Without</a:t>
            </a:r>
          </a:p>
          <a:p>
            <a:pPr>
              <a:spcBef>
                <a:spcPts val="300"/>
              </a:spcBef>
              <a:defRPr sz="1000">
                <a:solidFill>
                  <a:srgbClr val="1E293B"/>
                </a:solidFill>
              </a:defRPr>
            </a:pPr>
            <a:r>
              <a:t>Tilting head or gantry by 45° drops conventional CNN Dice by 12–18%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4069080"/>
            <a:ext cx="2468880" cy="1691640"/>
          </a:xfrm>
          <a:prstGeom prst="roundRect">
            <a:avLst/>
          </a:prstGeom>
          <a:solidFill>
            <a:srgbClr val="DCFCE7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5803D"/>
                </a:solidFill>
              </a:defRPr>
            </a:pPr>
            <a:r>
              <a:t>✔ With Mod-Seg-SE(2)</a:t>
            </a:r>
          </a:p>
          <a:p>
            <a:pPr>
              <a:spcBef>
                <a:spcPts val="300"/>
              </a:spcBef>
              <a:defRPr sz="1000">
                <a:solidFill>
                  <a:srgbClr val="1E293B"/>
                </a:solidFill>
              </a:defRPr>
            </a:pPr>
            <a:r>
              <a:t>Rotation-Equivariant (N=8 group convolutions): identical boundary at any angle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657600"/>
            <a:ext cx="5257800" cy="2286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E3A8A"/>
                </a:solidFill>
              </a:defRPr>
            </a:pPr>
            <a:r>
              <a:t>Consistent, Structured Volumetric Reporting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4069080"/>
            <a:ext cx="2377440" cy="1691640"/>
          </a:xfrm>
          <a:prstGeom prst="roundRect">
            <a:avLst/>
          </a:prstGeom>
          <a:solidFill>
            <a:srgbClr val="FEE2E2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</a:defRPr>
            </a:pPr>
            <a:r>
              <a:t>✖ Without</a:t>
            </a:r>
          </a:p>
          <a:p>
            <a:pPr>
              <a:spcBef>
                <a:spcPts val="300"/>
              </a:spcBef>
              <a:defRPr sz="1000">
                <a:solidFill>
                  <a:srgbClr val="1E293B"/>
                </a:solidFill>
              </a:defRPr>
            </a:pPr>
            <a:r>
              <a:t>Subjective free-text notes ('moderate mass effect in parietal lobe'), hard to compare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23960" y="4069080"/>
            <a:ext cx="2468880" cy="1691640"/>
          </a:xfrm>
          <a:prstGeom prst="roundRect">
            <a:avLst/>
          </a:prstGeom>
          <a:solidFill>
            <a:srgbClr val="DCFCE7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5803D"/>
                </a:solidFill>
              </a:defRPr>
            </a:pPr>
            <a:r>
              <a:t>✔ With Mod-Seg-SE(2)</a:t>
            </a:r>
          </a:p>
          <a:p>
            <a:pPr>
              <a:spcBef>
                <a:spcPts val="300"/>
              </a:spcBef>
              <a:defRPr sz="1000">
                <a:solidFill>
                  <a:srgbClr val="1E293B"/>
                </a:solidFill>
              </a:defRPr>
            </a:pPr>
            <a:r>
              <a:t>Automated 3D volume (mL), min/max lesion diameter, risk tier &amp; 1-click Word report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942"/>
                </a:solidFill>
              </a:defRPr>
            </a:pPr>
            <a:r>
              <a:t>OPTICAL SYSTEMS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17520" y="32004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Current Market Opportunity &amp; Clinical Positioning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AI in Neuroimaging market projection: US$14.2 B by 2032 (Growth 28.5%/year)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National Taiwan University • NTU GSAT | Brain-CTC-Seg Consortium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293B"/>
                </a:solidFill>
              </a:defRPr>
            </a:pPr>
            <a: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88720"/>
          <a:ext cx="75895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1188720"/>
                <a:gridCol w="1188720"/>
                <a:gridCol w="1188720"/>
                <a:gridCol w="1188720"/>
              </a:tblGrid>
              <a:tr h="653142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Capability / Feature</a:t>
                      </a:r>
                    </a:p>
                  </a:txBody>
                  <a:tcPr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Stroke CAD</a:t>
                      </a:r>
                      <a:br/>
                      <a:r>
                        <a:t>(RapidAI/Viz)</a:t>
                      </a:r>
                    </a:p>
                  </a:txBody>
                  <a:tcPr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General AI</a:t>
                      </a:r>
                      <a:br/>
                      <a:r>
                        <a:t>(Aidoc)</a:t>
                      </a:r>
                    </a:p>
                  </a:txBody>
                  <a:tcPr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Academic SOTA</a:t>
                      </a:r>
                      <a:br/>
                      <a:r>
                        <a:t>(nnU-Net)</a:t>
                      </a:r>
                    </a:p>
                  </a:txBody>
                  <a:tcPr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Mod-Seg-SE(2)</a:t>
                      </a:r>
                      <a:br/>
                      <a:r>
                        <a:t>[OURS]</a:t>
                      </a:r>
                    </a:p>
                  </a:txBody>
                  <a:tcPr>
                    <a:solidFill>
                      <a:srgbClr val="15803D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E293B"/>
                          </a:solidFill>
                        </a:defRPr>
                      </a:pPr>
                      <a:r>
                        <a:t>Full 3D Multi-Planar Volumetry (Ax, Cor, Sag)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4748B"/>
                          </a:solidFill>
                        </a:defRPr>
                      </a:pPr>
                      <a:r>
                        <a:t>⚪ No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4748B"/>
                          </a:solidFill>
                        </a:defRPr>
                      </a:pPr>
                      <a:r>
                        <a:t>⚪ No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D97706"/>
                          </a:solidFill>
                        </a:defRPr>
                      </a:pPr>
                      <a:r>
                        <a:t>🟡 Partial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5803D"/>
                          </a:solidFill>
                        </a:defRPr>
                      </a:pPr>
                      <a:r>
                        <a:t>🟢 YES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E293B"/>
                          </a:solidFill>
                        </a:defRPr>
                      </a:pPr>
                      <a:r>
                        <a:t>Non-Contrast CT (NCCT) Tumor Detection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4748B"/>
                          </a:solidFill>
                        </a:defRPr>
                      </a:pPr>
                      <a:r>
                        <a:t>⚪ 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D97706"/>
                          </a:solidFill>
                        </a:defRPr>
                      </a:pPr>
                      <a:r>
                        <a:t>🟡 Hemorrhage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D97706"/>
                          </a:solidFill>
                        </a:defRPr>
                      </a:pPr>
                      <a:r>
                        <a:t>🟡 CT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5803D"/>
                          </a:solidFill>
                        </a:defRPr>
                      </a:pPr>
                      <a:r>
                        <a:t>🟢 YES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E293B"/>
                          </a:solidFill>
                        </a:defRPr>
                      </a:pPr>
                      <a:r>
                        <a:t>Group Equivariant Invariance (SE(2) N=8)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4748B"/>
                          </a:solidFill>
                        </a:defRPr>
                      </a:pPr>
                      <a:r>
                        <a:t>⚪ No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4748B"/>
                          </a:solidFill>
                        </a:defRPr>
                      </a:pPr>
                      <a:r>
                        <a:t>⚪ No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4748B"/>
                          </a:solidFill>
                        </a:defRPr>
                      </a:pPr>
                      <a:r>
                        <a:t>⚪ No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5803D"/>
                          </a:solidFill>
                        </a:defRPr>
                      </a:pPr>
                      <a:r>
                        <a:t>🟢 YES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E293B"/>
                          </a:solidFill>
                        </a:defRPr>
                      </a:pPr>
                      <a:r>
                        <a:t>Multi-Model Consensus &amp; Uncertainty Map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4748B"/>
                          </a:solidFill>
                        </a:defRPr>
                      </a:pPr>
                      <a:r>
                        <a:t>⚪ 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4748B"/>
                          </a:solidFill>
                        </a:defRPr>
                      </a:pPr>
                      <a:r>
                        <a:t>⚪ 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4748B"/>
                          </a:solidFill>
                        </a:defRPr>
                      </a:pPr>
                      <a:r>
                        <a:t>⚪ 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5803D"/>
                          </a:solidFill>
                        </a:defRPr>
                      </a:pPr>
                      <a:r>
                        <a:t>🟢 YES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E293B"/>
                          </a:solidFill>
                        </a:defRPr>
                      </a:pPr>
                      <a:r>
                        <a:t>Zero-Install Browser Web &amp; PACS Integration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D97706"/>
                          </a:solidFill>
                        </a:defRPr>
                      </a:pPr>
                      <a:r>
                        <a:t>🟡 Scope-locked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D97706"/>
                          </a:solidFill>
                        </a:defRPr>
                      </a:pPr>
                      <a:r>
                        <a:t>🟡 Cloud-locked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4748B"/>
                          </a:solidFill>
                        </a:defRPr>
                      </a:pPr>
                      <a:r>
                        <a:t>⚪ Script only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5803D"/>
                          </a:solidFill>
                        </a:defRPr>
                      </a:pPr>
                      <a:r>
                        <a:t>🟢 YES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653148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E293B"/>
                          </a:solidFill>
                        </a:defRPr>
                      </a:pPr>
                      <a:r>
                        <a:t>Automated Downloadable Clinical Word/DICOM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4748B"/>
                          </a:solidFill>
                        </a:defRPr>
                      </a:pPr>
                      <a:r>
                        <a:t>⚪ 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4748B"/>
                          </a:solidFill>
                        </a:defRPr>
                      </a:pPr>
                      <a:r>
                        <a:t>🟡 PDF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4748B"/>
                          </a:solidFill>
                        </a:defRPr>
                      </a:pPr>
                      <a:r>
                        <a:t>⚪ 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5803D"/>
                          </a:solidFill>
                        </a:defRPr>
                      </a:pPr>
                      <a:r>
                        <a:t>🟢 YES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595360" y="1188720"/>
            <a:ext cx="2834640" cy="2377440"/>
          </a:xfrm>
          <a:prstGeom prst="roundRect">
            <a:avLst/>
          </a:prstGeom>
          <a:solidFill>
            <a:srgbClr val="FEF2F2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C2626"/>
                </a:solidFill>
              </a:defRPr>
            </a:pPr>
            <a:r>
              <a:t>The Open Space</a:t>
            </a:r>
          </a:p>
          <a:p>
            <a:pPr>
              <a:spcBef>
                <a:spcPts val="400"/>
              </a:spcBef>
              <a:defRPr sz="1050">
                <a:solidFill>
                  <a:srgbClr val="1E293B"/>
                </a:solidFill>
              </a:defRPr>
            </a:pPr>
            <a:r>
              <a:t>No approved clinical AI software performs automated brain tumor segmentation on raw Non-Contrast CT with rotation-equivariant invariance and zero-install browser deployment.</a:t>
            </a:r>
            <a:br/>
            <a:br/>
            <a:r>
              <a:t>Traditional tools fail when heads are tilted; our platform fills this clinical void.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3749039"/>
            <a:ext cx="2834640" cy="2011680"/>
          </a:xfrm>
          <a:prstGeom prst="roundRect">
            <a:avLst/>
          </a:prstGeom>
          <a:solidFill>
            <a:srgbClr val="F0F9FF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E3A8A"/>
                </a:solidFill>
              </a:defRPr>
            </a:pPr>
            <a:r>
              <a:t>Two Buyers, One Engine</a:t>
            </a:r>
          </a:p>
          <a:p>
            <a:pPr>
              <a:spcBef>
                <a:spcPts val="400"/>
              </a:spcBef>
              <a:defRPr sz="1050">
                <a:solidFill>
                  <a:srgbClr val="1E293B"/>
                </a:solidFill>
              </a:defRPr>
            </a:pPr>
            <a:r>
              <a:t>1. Hospital Routine Care: Rapid neuro-oncology triage, volumetric mass effect quantification, and surgical planning.</a:t>
            </a:r>
            <a:br/>
            <a:br/>
            <a:r>
              <a:t>2. Clinical Drug Trials: Automated, reproducible central reading without radiologist fatigue or rater bias.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solidFill>
            <a:srgbClr val="FEF3C7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D97706"/>
                </a:solidFill>
              </a:defRPr>
            </a:pPr>
            <a:r>
              <a:t>Present status: Working Web Platform Prototype (Verified on DGX-H100 &amp; Taiwan Patient Cohort). Validated on 6 Baseline Architectures.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942"/>
                </a:solidFill>
              </a:defRPr>
            </a:pPr>
            <a:r>
              <a:t>OPTICAL SYSTEMS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17520" y="32004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Mod-Seg-SE(2) Architecture &amp; Training Pipeline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Group Equivariant Convolutional Network (C8 / N=8 Rotations) for Robust Brain CT Segmentation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National Taiwan University • NTU GSAT | Brain-CTC-Seg Consortium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293B"/>
                </a:solidFill>
              </a:defRPr>
            </a:pPr>
            <a:r>
              <a:t>9</a:t>
            </a:r>
          </a:p>
        </p:txBody>
      </p:sp>
      <p:pic>
        <p:nvPicPr>
          <p:cNvPr id="6" name="Picture 5" descr="Fig5_Mod_Seg_SE2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5120640" cy="47548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035040" y="1188720"/>
            <a:ext cx="5394960" cy="4754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 b="1">
                <a:solidFill>
                  <a:srgbClr val="1E3A8A"/>
                </a:solidFill>
              </a:defRPr>
            </a:pPr>
            <a:r>
              <a:t>1. 2.5D Spatial Stacking Input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</a:defRPr>
            </a:pPr>
            <a:r>
              <a:t>• Input tensor: [B, 3, 256, 256] stacking [img_prev, img_curr, img_next]</a:t>
            </a:r>
            <a:br/>
            <a:r>
              <a:t>• Provides 3D volumetric context without massive 3D-CNN compute overhead.</a:t>
            </a:r>
          </a:p>
          <a:p>
            <a:pPr>
              <a:spcBef>
                <a:spcPts val="600"/>
              </a:spcBef>
              <a:defRPr sz="1200" b="1">
                <a:solidFill>
                  <a:srgbClr val="1E3A8A"/>
                </a:solidFill>
              </a:defRPr>
            </a:pPr>
            <a:r>
              <a:t>2. Group Equivariant R2Conv Encoder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</a:defRPr>
            </a:pPr>
            <a:r>
              <a:t>• Discrete rotation group C8 (N=8 rotations spaced by 45°)</a:t>
            </a:r>
            <a:br/>
            <a:r>
              <a:t>• Steerable filter banks guarantee f(g • x) = g • f(x)</a:t>
            </a:r>
            <a:br/>
            <a:r>
              <a:t>• Invariant to scanner couch indexing &amp; patient head tilt.</a:t>
            </a:r>
          </a:p>
          <a:p>
            <a:pPr>
              <a:spcBef>
                <a:spcPts val="600"/>
              </a:spcBef>
              <a:defRPr sz="1200" b="1">
                <a:solidFill>
                  <a:srgbClr val="1E3A8A"/>
                </a:solidFill>
              </a:defRPr>
            </a:pPr>
            <a:r>
              <a:t>3. Equivariant Bottleneck &amp; Decoder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</a:defRPr>
            </a:pPr>
            <a:r>
              <a:t>• Pointwise Max Pooling &amp; Equivariant Group Normalization</a:t>
            </a:r>
            <a:br/>
            <a:r>
              <a:t>• R2Upsampling + skip connection direct sum concatenation</a:t>
            </a:r>
            <a:br/>
            <a:r>
              <a:t>• Preserves fine sub-millimeter tumor boundary details.</a:t>
            </a:r>
          </a:p>
          <a:p>
            <a:pPr>
              <a:spcBef>
                <a:spcPts val="600"/>
              </a:spcBef>
              <a:defRPr sz="1200" b="1">
                <a:solidFill>
                  <a:srgbClr val="1E3A8A"/>
                </a:solidFill>
              </a:defRPr>
            </a:pPr>
            <a:r>
              <a:t>4. Projection Head &amp; Advanced Loss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</a:defRPr>
            </a:pPr>
            <a:r>
              <a:t>• Equivariant-to-Trivial projection (1x1 conv) -&gt; 2-class softmax</a:t>
            </a:r>
            <a:br/>
            <a:r>
              <a:t>• AdvancedCombinedLoss: L = 2.0*Dice + 0.5*Focal + 0.5*Edge</a:t>
            </a:r>
            <a:br/>
            <a:r>
              <a:t>• Class weighting [1.0, 10.0] tackles extreme foreground/background tumor imbalance.</a:t>
            </a:r>
          </a:p>
          <a:p>
            <a:pPr>
              <a:spcBef>
                <a:spcPts val="600"/>
              </a:spcBef>
              <a:defRPr sz="1200" b="1">
                <a:solidFill>
                  <a:srgbClr val="1E3A8A"/>
                </a:solidFill>
              </a:defRPr>
            </a:pPr>
            <a:r>
              <a:t>5. Validated Performance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</a:defRPr>
            </a:pPr>
            <a:r>
              <a:t>• Mod-Seg-SE(2) achieves 84.2% Dice &amp; 73.1% IoU on challenging NCCT</a:t>
            </a:r>
            <a:br/>
            <a:r>
              <a:t>• Retains &gt;82% Dice under severe 45°/90°/180° scan rotations.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